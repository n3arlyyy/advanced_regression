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5"/>
  </p:notesMasterIdLst>
  <p:handoutMasterIdLst>
    <p:handoutMasterId r:id="rId16"/>
  </p:handoutMasterIdLst>
  <p:sldIdLst>
    <p:sldId id="278" r:id="rId5"/>
    <p:sldId id="282" r:id="rId6"/>
    <p:sldId id="271" r:id="rId7"/>
    <p:sldId id="283" r:id="rId8"/>
    <p:sldId id="284" r:id="rId9"/>
    <p:sldId id="285" r:id="rId10"/>
    <p:sldId id="286" r:id="rId11"/>
    <p:sldId id="287" r:id="rId12"/>
    <p:sldId id="288" r:id="rId13"/>
    <p:sldId id="292" r:id="rId1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5388" autoAdjust="0"/>
  </p:normalViewPr>
  <p:slideViewPr>
    <p:cSldViewPr snapToGrid="0">
      <p:cViewPr varScale="1">
        <p:scale>
          <a:sx n="91" d="100"/>
          <a:sy n="91" d="100"/>
        </p:scale>
        <p:origin x="796" y="6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82" d="100"/>
          <a:sy n="82" d="100"/>
        </p:scale>
        <p:origin x="39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BC1A1616-714D-4ADA-BBBA-B34ABEEC5283}" type="datetime1">
              <a:rPr lang="ru-RU" smtClean="0"/>
              <a:t>27.11.2025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CFA70580-B89C-4157-871D-6B9318EE5F5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A8D124BC-5E8F-4686-A3D0-46BF78A79F81}" type="datetime1">
              <a:rPr lang="ru-RU" smtClean="0"/>
              <a:pPr/>
              <a:t>27.11.2025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E7AF00E9-A49D-4007-B3B9-A3783809E50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1674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281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969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ru-RU" dirty="0"/>
            </a:lvl1pPr>
          </a:lstStyle>
          <a:p>
            <a:pPr lvl="0" rtl="0">
              <a:lnSpc>
                <a:spcPct val="100000"/>
              </a:lnSpc>
            </a:pPr>
            <a:r>
              <a:rPr lang="ru-RU"/>
              <a:t>Заголовок слайда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2" name="Объект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>
                <a:solidFill>
                  <a:schemeClr val="tx1"/>
                </a:solidFill>
              </a:defRPr>
            </a:lvl1pPr>
            <a:lvl2pPr>
              <a:defRPr lang="ru-RU" sz="1200">
                <a:solidFill>
                  <a:schemeClr val="tx1"/>
                </a:solidFill>
              </a:defRPr>
            </a:lvl2pPr>
            <a:lvl3pPr>
              <a:defRPr lang="ru-RU" sz="1200">
                <a:solidFill>
                  <a:schemeClr val="tx1"/>
                </a:solidFill>
              </a:defRPr>
            </a:lvl3pPr>
            <a:lvl4pPr>
              <a:defRPr lang="ru-RU" sz="1200">
                <a:solidFill>
                  <a:schemeClr val="tx1"/>
                </a:solidFill>
              </a:defRPr>
            </a:lvl4pPr>
            <a:lvl5pPr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8" name="Полилиния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11" name="Овал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Полилиния: фигура 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Полилиния: фигура 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Полилиния: Фигура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rtlCol="0" anchor="ctr">
            <a:noAutofit/>
          </a:bodyPr>
          <a:lstStyle>
            <a:lvl1pPr algn="l">
              <a:defRPr lang="ru-RU" sz="54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89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+ подзаголовок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rtlCol="0" anchor="b">
            <a:noAutofit/>
          </a:bodyPr>
          <a:lstStyle>
            <a:lvl1pPr algn="l"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 rtlCol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ru-RU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Полилиния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2" name="Полилиния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3" name="Полилиния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8" name="Рисунок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007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Полилиния: фигура 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Полилиния: фигура 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1" name="Овал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Полилиния: Фигура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ru-RU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ru-RU" sz="1800">
                <a:solidFill>
                  <a:schemeClr val="tx1"/>
                </a:solidFill>
              </a:defRPr>
            </a:lvl1pPr>
            <a:lvl2pPr>
              <a:defRPr lang="ru-RU" sz="1200">
                <a:solidFill>
                  <a:schemeClr val="tx1"/>
                </a:solidFill>
              </a:defRPr>
            </a:lvl2pPr>
            <a:lvl3pPr>
              <a:defRPr lang="ru-RU" sz="1200">
                <a:solidFill>
                  <a:schemeClr val="tx1"/>
                </a:solidFill>
              </a:defRPr>
            </a:lvl3pPr>
            <a:lvl4pPr>
              <a:defRPr lang="ru-RU" sz="1200">
                <a:solidFill>
                  <a:schemeClr val="tx1"/>
                </a:solidFill>
              </a:defRPr>
            </a:lvl4pPr>
            <a:lvl5pPr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rtlCol="0" anchor="b">
            <a:noAutofit/>
          </a:bodyPr>
          <a:lstStyle>
            <a:lvl1pPr algn="ctr">
              <a:defRPr lang="ru-RU" sz="54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1800">
                <a:solidFill>
                  <a:schemeClr val="tx1"/>
                </a:solidFill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552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одержимого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одержимое + рисунок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rtlCol="0" anchor="b" anchorCtr="0">
            <a:noAutofit/>
          </a:bodyPr>
          <a:lstStyle>
            <a:lvl1pPr algn="r"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 rtlCol="0">
            <a:normAutofit/>
          </a:bodyPr>
          <a:lstStyle>
            <a:lvl1pPr marL="0" indent="0" algn="r">
              <a:buNone/>
              <a:defRPr lang="ru-RU" sz="1800">
                <a:solidFill>
                  <a:schemeClr val="tx1"/>
                </a:solidFill>
              </a:defRPr>
            </a:lvl1pPr>
            <a:lvl2pPr algn="r">
              <a:defRPr lang="ru-RU" sz="1200">
                <a:solidFill>
                  <a:schemeClr val="tx1"/>
                </a:solidFill>
              </a:defRPr>
            </a:lvl2pPr>
            <a:lvl3pPr algn="r">
              <a:defRPr lang="ru-RU" sz="1200">
                <a:solidFill>
                  <a:schemeClr val="tx1"/>
                </a:solidFill>
              </a:defRPr>
            </a:lvl3pPr>
            <a:lvl4pPr algn="r">
              <a:defRPr lang="ru-RU" sz="1200">
                <a:solidFill>
                  <a:schemeClr val="tx1"/>
                </a:solidFill>
              </a:defRPr>
            </a:lvl4pPr>
            <a:lvl5pPr algn="r"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Полилиния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0" name="Полилиния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1" name="Полилиния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15" name="Овал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61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Полилиния: Фигура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15" name="Полилиния: Фигура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>
                <a:solidFill>
                  <a:schemeClr val="tx1"/>
                </a:solidFill>
              </a:defRPr>
            </a:lvl1pPr>
            <a:lvl2pPr>
              <a:defRPr lang="ru-RU" sz="1800">
                <a:solidFill>
                  <a:schemeClr val="tx1"/>
                </a:solidFill>
              </a:defRPr>
            </a:lvl2pPr>
            <a:lvl3pPr>
              <a:defRPr lang="ru-RU" sz="1800">
                <a:solidFill>
                  <a:schemeClr val="tx1"/>
                </a:solidFill>
              </a:defRPr>
            </a:lvl3pPr>
            <a:lvl4pPr>
              <a:defRPr lang="ru-RU" sz="1800">
                <a:solidFill>
                  <a:schemeClr val="tx1"/>
                </a:solidFill>
              </a:defRPr>
            </a:lvl4pPr>
            <a:lvl5pPr>
              <a:defRPr lang="ru-RU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dirty="0"/>
              <a:t>Щелкните, чтобы добавить содержимое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>
                <a:solidFill>
                  <a:schemeClr val="tx1"/>
                </a:solidFill>
              </a:defRPr>
            </a:lvl1pPr>
            <a:lvl2pPr>
              <a:defRPr lang="ru-RU" sz="1800">
                <a:solidFill>
                  <a:schemeClr val="tx1"/>
                </a:solidFill>
              </a:defRPr>
            </a:lvl2pPr>
            <a:lvl3pPr>
              <a:defRPr lang="ru-RU" sz="1800">
                <a:solidFill>
                  <a:schemeClr val="tx1"/>
                </a:solidFill>
              </a:defRPr>
            </a:lvl3pPr>
            <a:lvl4pPr>
              <a:defRPr lang="ru-RU" sz="1800">
                <a:solidFill>
                  <a:schemeClr val="tx1"/>
                </a:solidFill>
              </a:defRPr>
            </a:lvl4pPr>
            <a:lvl5pPr>
              <a:defRPr lang="ru-RU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вал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ru-RU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ru-RU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ru-RU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ru-RU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Полилиния: фигура 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Дата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ru-RU" sz="64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ru-RU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 dirty="0"/>
              <a:t>Подзаголовок слайда 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36" name="Полилиния: Фигура 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ru-RU"/>
            </a:defPPr>
          </a:lstStyle>
          <a:p>
            <a:pPr lvl="0" rtl="0">
              <a:lnSpc>
                <a:spcPct val="100000"/>
              </a:lnSpc>
            </a:pPr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ru-RU" sz="100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20ГГ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ru-RU" sz="100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ru-RU" sz="100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BA1B0FB-D917-4C8C-928F-313BD683BF39}" type="slidenum">
              <a:rPr lang="ru-RU" smtClean="0"/>
              <a:pPr/>
              <a:t>‹#›</a:t>
            </a:fld>
            <a:endParaRPr lang="ru-RU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6" r:id="rId3"/>
    <p:sldLayoutId id="2147483697" r:id="rId4"/>
    <p:sldLayoutId id="2147483703" r:id="rId5"/>
    <p:sldLayoutId id="2147483698" r:id="rId6"/>
    <p:sldLayoutId id="2147483704" r:id="rId7"/>
    <p:sldLayoutId id="2147483699" r:id="rId8"/>
    <p:sldLayoutId id="2147483688" r:id="rId9"/>
    <p:sldLayoutId id="2147483686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991" y="265246"/>
            <a:ext cx="5765606" cy="3266711"/>
          </a:xfrm>
          <a:noFill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/>
            <a:r>
              <a:rPr lang="ru-RU" b="1" dirty="0"/>
              <a:t>ЦЕНЫ НА ЖИЛЬЁ – ПРОДВИНУТЫЕ МЕТОДЫ РЕГРЕССИИ</a:t>
            </a:r>
            <a:endParaRPr lang="ru-RU" dirty="0"/>
          </a:p>
        </p:txBody>
      </p:sp>
      <p:pic>
        <p:nvPicPr>
          <p:cNvPr id="8" name="Рисунок 13" descr="Цифровой фон точек данных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>
          <a:xfrm>
            <a:off x="0" y="0"/>
            <a:ext cx="5577142" cy="68580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D3FBD5-3717-8FBC-2169-B882EC8E86B0}"/>
              </a:ext>
            </a:extLst>
          </p:cNvPr>
          <p:cNvSpPr txBox="1"/>
          <p:nvPr/>
        </p:nvSpPr>
        <p:spPr>
          <a:xfrm>
            <a:off x="7754949" y="5669424"/>
            <a:ext cx="4306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b="1" dirty="0"/>
              <a:t>Выполнили студенты 24-ИВТ-5:</a:t>
            </a:r>
            <a:br>
              <a:rPr lang="ru-RU" b="1" dirty="0"/>
            </a:br>
            <a:r>
              <a:rPr lang="ru-RU" b="1" dirty="0"/>
              <a:t>Пронякин Ярослав </a:t>
            </a:r>
            <a:br>
              <a:rPr lang="ru-RU" b="1" dirty="0"/>
            </a:br>
            <a:r>
              <a:rPr lang="ru-RU" b="1" dirty="0"/>
              <a:t>Опаров Иван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5"/>
            <a:ext cx="11090275" cy="70270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BCA07C-1908-B1EB-82FA-EC63DAAF4C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4" y="1835780"/>
            <a:ext cx="11090274" cy="4320715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r>
              <a:rPr lang="ru-RU" sz="2400" dirty="0"/>
              <a:t>Проект посвящен предсказанию цен на жилье при помощи продвинутых методов регрессии. </a:t>
            </a:r>
          </a:p>
          <a:p>
            <a:r>
              <a:rPr lang="ru-RU" sz="2400" dirty="0"/>
              <a:t>Строится модель, которая предсказывает цены на жилье на основе различных параметров. </a:t>
            </a:r>
          </a:p>
          <a:p>
            <a:r>
              <a:rPr lang="ru-RU" sz="2400" dirty="0"/>
              <a:t>Используются алгоритмы очистки данных, объединения и сравнения моделей, а также методы визуализации данных для отображения зависимостей данных. </a:t>
            </a:r>
          </a:p>
          <a:p>
            <a:r>
              <a:rPr lang="ru-RU" sz="2400" dirty="0"/>
              <a:t>Обучение и тестирование модели проводится на отдельных наборах данных. </a:t>
            </a:r>
          </a:p>
          <a:p>
            <a:r>
              <a:rPr lang="ru-RU" sz="2400" dirty="0"/>
              <a:t>Проводится оценка точности предсказаний.</a:t>
            </a:r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322" y="5584122"/>
            <a:ext cx="11115355" cy="1040508"/>
          </a:xfrm>
          <a:noFill/>
        </p:spPr>
        <p:txBody>
          <a:bodyPr rtlCol="0" anchor="ctr"/>
          <a:lstStyle>
            <a:defPPr>
              <a:defRPr lang="ru-RU"/>
            </a:defPPr>
          </a:lstStyle>
          <a:p>
            <a:pPr rtl="0"/>
            <a:r>
              <a:rPr lang="ru-RU" dirty="0"/>
              <a:t>Логарифмическое преобразование</a:t>
            </a:r>
          </a:p>
        </p:txBody>
      </p:sp>
      <p:pic>
        <p:nvPicPr>
          <p:cNvPr id="11" name="Рисунок 15" descr="Цифровой фон точек данных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-1" y="0"/>
            <a:ext cx="12192000" cy="5304916"/>
          </a:xfrm>
        </p:spPr>
      </p:pic>
      <p:pic>
        <p:nvPicPr>
          <p:cNvPr id="4" name="Рисунок 3" descr="Изображение выглядит как текст, График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A82DCC-37D1-A2DF-7201-B7718F060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324" y="376907"/>
            <a:ext cx="3225721" cy="20731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067DC0-6864-8C09-47CB-D6DBE795EBBD}"/>
              </a:ext>
            </a:extLst>
          </p:cNvPr>
          <p:cNvSpPr txBox="1"/>
          <p:nvPr/>
        </p:nvSpPr>
        <p:spPr>
          <a:xfrm>
            <a:off x="1512983" y="4683224"/>
            <a:ext cx="3124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До</a:t>
            </a:r>
          </a:p>
        </p:txBody>
      </p:sp>
      <p:pic>
        <p:nvPicPr>
          <p:cNvPr id="6" name="Рисунок 5" descr="Изображение выглядит как снимок экрана, График, текс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89E4715-9B12-C2E7-8F49-AAAF9E6A6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3324" y="2450055"/>
            <a:ext cx="3225721" cy="2196252"/>
          </a:xfrm>
          <a:prstGeom prst="rect">
            <a:avLst/>
          </a:prstGeom>
        </p:spPr>
      </p:pic>
      <p:pic>
        <p:nvPicPr>
          <p:cNvPr id="7" name="Рисунок 6" descr="Изображение выглядит как График, снимок экрана, диаграмма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1FEAAE5-8318-D60F-21DB-83DA8579F0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2957" y="447217"/>
            <a:ext cx="3225721" cy="2205241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График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3B7EC4E-05BA-B874-3CF1-3246418FA2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2955" y="2652458"/>
            <a:ext cx="3225721" cy="20731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861159-5F51-0AB7-1903-FA9EA6DA2EA7}"/>
              </a:ext>
            </a:extLst>
          </p:cNvPr>
          <p:cNvSpPr txBox="1"/>
          <p:nvPr/>
        </p:nvSpPr>
        <p:spPr>
          <a:xfrm>
            <a:off x="7554305" y="4712413"/>
            <a:ext cx="3124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После</a:t>
            </a:r>
          </a:p>
        </p:txBody>
      </p:sp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196900"/>
            <a:ext cx="4159160" cy="3155900"/>
          </a:xfrm>
          <a:noFill/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sz="4800" dirty="0"/>
              <a:t>Пропущенные значения</a:t>
            </a: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26F9625D-B500-4096-0CB4-CB8D7E4ABB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" name="Рисунок 9" descr="Изображение выглядит как текст, снимок экрана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62B08E6-2547-03D3-E3AE-D4E968D9A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957" y="564483"/>
            <a:ext cx="6615511" cy="571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9720" y="505453"/>
            <a:ext cx="3078817" cy="145021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Корреляция</a:t>
            </a:r>
          </a:p>
        </p:txBody>
      </p:sp>
      <p:pic>
        <p:nvPicPr>
          <p:cNvPr id="4" name="Рисунок 3" descr="Изображение выглядит как текст, снимок экрана, шаблон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A76CBA4-F58E-9C44-6BE8-C5AA48418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82" y="1354151"/>
            <a:ext cx="5779418" cy="500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7" descr="Цифровой фон точек данных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342" y="615843"/>
            <a:ext cx="4143884" cy="74528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Искажения</a:t>
            </a:r>
          </a:p>
        </p:txBody>
      </p:sp>
      <p:pic>
        <p:nvPicPr>
          <p:cNvPr id="4" name="Рисунок 3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3F5D4B-9C81-FD77-4DD9-25BBEF54F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7748" y="615843"/>
            <a:ext cx="2773147" cy="586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Построение моделей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1" y="2097175"/>
            <a:ext cx="10763965" cy="4252190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lvl="0"/>
            <a:r>
              <a:rPr lang="ru-RU" sz="3200" dirty="0"/>
              <a:t>1) Регрессия Лассо </a:t>
            </a:r>
            <a:r>
              <a:rPr lang="en-US" sz="3200" dirty="0"/>
              <a:t>– 0.1115</a:t>
            </a:r>
            <a:endParaRPr lang="ru-RU" sz="3200" dirty="0"/>
          </a:p>
          <a:p>
            <a:pPr lvl="0"/>
            <a:r>
              <a:rPr lang="ru-RU" sz="3200" dirty="0"/>
              <a:t>2) Эластичная регрессия </a:t>
            </a:r>
            <a:r>
              <a:rPr lang="en-US" sz="3200" dirty="0"/>
              <a:t>– 0.1116</a:t>
            </a:r>
            <a:endParaRPr lang="ru-RU" sz="3200" dirty="0"/>
          </a:p>
          <a:p>
            <a:pPr lvl="0"/>
            <a:r>
              <a:rPr lang="ru-RU" sz="3200" dirty="0"/>
              <a:t>3) Регрессия Риджа </a:t>
            </a:r>
            <a:r>
              <a:rPr lang="en-US" sz="3200" dirty="0"/>
              <a:t>– 0.1153</a:t>
            </a:r>
            <a:endParaRPr lang="ru-RU" sz="3200" dirty="0"/>
          </a:p>
          <a:p>
            <a:pPr lvl="0"/>
            <a:r>
              <a:rPr lang="ru-RU" sz="3200" dirty="0"/>
              <a:t>4) Регрессия с бустингом градиента </a:t>
            </a:r>
            <a:r>
              <a:rPr lang="en-US" sz="3200" dirty="0"/>
              <a:t>– 0.1167</a:t>
            </a:r>
            <a:endParaRPr lang="ru-RU" sz="3200" dirty="0"/>
          </a:p>
          <a:p>
            <a:pPr lvl="0"/>
            <a:r>
              <a:rPr lang="ru-RU" sz="3200" dirty="0"/>
              <a:t>5) </a:t>
            </a:r>
            <a:r>
              <a:rPr lang="en-US" sz="3200" dirty="0"/>
              <a:t>XGBoost – 0.1160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Метамодель</a:t>
            </a:r>
          </a:p>
        </p:txBody>
      </p:sp>
      <p:pic>
        <p:nvPicPr>
          <p:cNvPr id="9" name="Рисунок 8" descr="Изображение выглядит как снимок экрана, Прямоугольник, Параллельный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95B901F-8A06-75E1-AD4B-D03D7A3B9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19" y="2399627"/>
            <a:ext cx="10819044" cy="271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60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1106B59-80B8-CEED-0BCA-BC3F80A85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73C2F317-81E4-3678-2FF2-495B3A95470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A7C6D33A-37B7-D2C4-2C1C-6D5253D0D48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8" name="Полилиния 8">
              <a:extLst>
                <a:ext uri="{FF2B5EF4-FFF2-40B4-BE49-F238E27FC236}">
                  <a16:creationId xmlns:a16="http://schemas.microsoft.com/office/drawing/2014/main" id="{18145A95-72C3-9BFC-32D2-908F235E389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4" y="196900"/>
            <a:ext cx="4899628" cy="2331490"/>
          </a:xfrm>
          <a:noFill/>
        </p:spPr>
        <p:txBody>
          <a:bodyPr rtlCol="0" anchor="b"/>
          <a:lstStyle>
            <a:defPPr>
              <a:defRPr lang="ru-RU"/>
            </a:defPPr>
          </a:lstStyle>
          <a:p>
            <a:pPr rtl="0"/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3162" y="2827209"/>
            <a:ext cx="4917440" cy="3442144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2800" dirty="0"/>
              <a:t>Итоговая оценка составила </a:t>
            </a:r>
            <a:r>
              <a:rPr lang="ru-RU" sz="2800" b="1" dirty="0"/>
              <a:t>0.0790</a:t>
            </a:r>
            <a:r>
              <a:rPr lang="ru-RU" sz="2800" dirty="0"/>
              <a:t>, что говорит о том, что использование объединения нужных базовых моделей, может значительно улучшить конечный результат прогнозирования</a:t>
            </a:r>
          </a:p>
        </p:txBody>
      </p:sp>
      <p:pic>
        <p:nvPicPr>
          <p:cNvPr id="20" name="Рисунок 19" descr="График крупным планом">
            <a:extLst>
              <a:ext uri="{FF2B5EF4-FFF2-40B4-BE49-F238E27FC236}">
                <a16:creationId xmlns:a16="http://schemas.microsoft.com/office/drawing/2014/main" id="{A7019768-5E2A-F9D1-62D6-EC7C5F0BBE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/>
        </p:blipFill>
        <p:spPr>
          <a:xfrm>
            <a:off x="6095588" y="0"/>
            <a:ext cx="6095998" cy="6858000"/>
          </a:xfrm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5C4A7DC2-42C3-FDDF-02BF-9598D75A6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23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7" y="-595472"/>
            <a:ext cx="5179330" cy="2841829"/>
          </a:xfrm>
          <a:noFill/>
        </p:spPr>
        <p:txBody>
          <a:bodyPr rtlCol="0" anchor="b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Спасибо за внимание</a:t>
            </a:r>
          </a:p>
        </p:txBody>
      </p:sp>
      <p:pic>
        <p:nvPicPr>
          <p:cNvPr id="25" name="Рисунок 24" descr="Сеть крупным планом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5926138" y="549275"/>
            <a:ext cx="5654675" cy="5788025"/>
          </a:xfrm>
        </p:spPr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257_TF33713516_Win32" id="{06EABBEA-3AAF-44A0-915C-8FB22919E62B}" vid="{153AF236-5B2D-4019-8D59-27DF83388284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{FBBD1A76-C32E-4DA1-B925-F01091E8FC3C}TF7eddf224-c89c-478f-8f2f-bfb086892169772cd78c_win32-5c8ed59712c8</Template>
  <TotalTime>18</TotalTime>
  <Words>157</Words>
  <Application>Microsoft Office PowerPoint</Application>
  <PresentationFormat>Широкоэкранный</PresentationFormat>
  <Paragraphs>34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Walbaum Display</vt:lpstr>
      <vt:lpstr>3DFloatVTI</vt:lpstr>
      <vt:lpstr>ЦЕНЫ НА ЖИЛЬЁ – ПРОДВИНУТЫЕ МЕТОДЫ РЕГРЕССИИ</vt:lpstr>
      <vt:lpstr>ВВЕДЕНИЕ</vt:lpstr>
      <vt:lpstr>Логарифмическое преобразование</vt:lpstr>
      <vt:lpstr>Пропущенные значения</vt:lpstr>
      <vt:lpstr>Корреляция</vt:lpstr>
      <vt:lpstr>Искажения</vt:lpstr>
      <vt:lpstr>Построение моделей</vt:lpstr>
      <vt:lpstr>Метамодель</vt:lpstr>
      <vt:lpstr>Заключение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Ярослав Пронякин</dc:creator>
  <cp:lastModifiedBy>Ярослав Пронякин</cp:lastModifiedBy>
  <cp:revision>1</cp:revision>
  <dcterms:created xsi:type="dcterms:W3CDTF">2025-11-27T04:19:59Z</dcterms:created>
  <dcterms:modified xsi:type="dcterms:W3CDTF">2025-11-27T04:38:20Z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